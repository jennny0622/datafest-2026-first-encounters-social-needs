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Patients</c:v>
          </c:tx>
          <c:dPt>
            <c:idx val="0"/>
            <c:bubble3D val="0"/>
            <c:spPr>
              <a:solidFill>
                <a:srgbClr val="008C95"/>
              </a:solidFill>
            </c:spPr>
            <c:extLst>
              <c:ext xmlns:c16="http://schemas.microsoft.com/office/drawing/2014/chart" uri="{C3380CC4-5D6E-409C-BE32-E72D297353CC}">
                <c16:uniqueId val="{00000001-F011-094A-A63E-6D0C24DBA059}"/>
              </c:ext>
            </c:extLst>
          </c:dPt>
          <c:dPt>
            <c:idx val="1"/>
            <c:bubble3D val="0"/>
            <c:spPr>
              <a:solidFill>
                <a:srgbClr val="F4B21B"/>
              </a:solidFill>
            </c:spPr>
            <c:extLst>
              <c:ext xmlns:c16="http://schemas.microsoft.com/office/drawing/2014/chart" uri="{C3380CC4-5D6E-409C-BE32-E72D297353CC}">
                <c16:uniqueId val="{00000003-F011-094A-A63E-6D0C24DBA059}"/>
              </c:ext>
            </c:extLst>
          </c:dPt>
          <c:cat>
            <c:strRef>
              <c:f>'Chart Data'!$A$2:$A$3</c:f>
              <c:strCache>
                <c:ptCount val="2"/>
                <c:pt idx="0">
                  <c:v>Non-ED</c:v>
                </c:pt>
                <c:pt idx="1">
                  <c:v>ED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81758</c:v>
                </c:pt>
                <c:pt idx="1">
                  <c:v>3092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11-094A-A63E-6D0C24DBA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solidFill>
          <a:srgbClr val="F3F3F0"/>
        </a:solidFill>
      </c:spPr>
    </c:plotArea>
    <c:legend>
      <c:legendPos val="b"/>
      <c:overlay val="0"/>
      <c:txPr>
        <a:bodyPr anchorCtr="1"/>
        <a:lstStyle/>
        <a:p>
          <a:pPr>
            <a:defRPr sz="1800">
              <a:solidFill>
                <a:srgbClr val="55565A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3F3F0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ED rate</c:v>
          </c:tx>
          <c:spPr>
            <a:solidFill>
              <a:srgbClr val="008C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Asthma</c:v>
                </c:pt>
                <c:pt idx="1">
                  <c:v>Recurrent depression</c:v>
                </c:pt>
                <c:pt idx="2">
                  <c:v>Type 2 diabetes</c:v>
                </c:pt>
                <c:pt idx="3">
                  <c:v>Heart failure</c:v>
                </c:pt>
                <c:pt idx="4">
                  <c:v>Essential hypertension</c:v>
                </c:pt>
                <c:pt idx="5">
                  <c:v>Chronic kidney disease</c:v>
                </c:pt>
              </c:strCache>
            </c:strRef>
          </c:cat>
          <c:val>
            <c:numRef>
              <c:f>'Chart Data'!$B$2:$B$7</c:f>
              <c:numCache>
                <c:formatCode>0.00%</c:formatCode>
                <c:ptCount val="6"/>
                <c:pt idx="0">
                  <c:v>0.108055612349</c:v>
                </c:pt>
                <c:pt idx="1">
                  <c:v>6.5595277140000005E-2</c:v>
                </c:pt>
                <c:pt idx="2">
                  <c:v>2.9686769518500002E-2</c:v>
                </c:pt>
                <c:pt idx="3">
                  <c:v>2.2412838959600001E-2</c:v>
                </c:pt>
                <c:pt idx="4">
                  <c:v>1.8593537065700001E-2</c:v>
                </c:pt>
                <c:pt idx="5">
                  <c:v>2.0483408439199999E-3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594-5C4B-BA2D-822B5C92D0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4000000000000001"/>
          <c:min val="0"/>
        </c:scaling>
        <c:delete val="0"/>
        <c:axPos val="b"/>
        <c:majorGridlines>
          <c:spPr>
            <a:ln w="4763">
              <a:solidFill>
                <a:srgbClr val="DCDDD9"/>
              </a:solidFill>
            </a:ln>
          </c:spPr>
        </c:majorGridlines>
        <c:numFmt formatCode="0.0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3F3F0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Patients</c:v>
          </c:tx>
          <c:spPr>
            <a:solidFill>
              <a:srgbClr val="008C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Office Visit</c:v>
                </c:pt>
                <c:pt idx="1">
                  <c:v>Lab Visit</c:v>
                </c:pt>
                <c:pt idx="2">
                  <c:v>Hospital Encounter</c:v>
                </c:pt>
                <c:pt idx="3">
                  <c:v>Lab Requisition</c:v>
                </c:pt>
                <c:pt idx="4">
                  <c:v>Initial consult</c:v>
                </c:pt>
                <c:pt idx="5">
                  <c:v>Follow-Up</c:v>
                </c:pt>
                <c:pt idx="6">
                  <c:v>Other types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39316</c:v>
                </c:pt>
                <c:pt idx="1">
                  <c:v>22985</c:v>
                </c:pt>
                <c:pt idx="2">
                  <c:v>7679</c:v>
                </c:pt>
                <c:pt idx="3">
                  <c:v>3964</c:v>
                </c:pt>
                <c:pt idx="4">
                  <c:v>3640</c:v>
                </c:pt>
                <c:pt idx="5">
                  <c:v>2068</c:v>
                </c:pt>
                <c:pt idx="6">
                  <c:v>5198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762-E740-87EA-88C441D403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000"/>
          <c:min val="0"/>
        </c:scaling>
        <c:delete val="0"/>
        <c:axPos val="b"/>
        <c:majorGridlines>
          <c:spPr>
            <a:ln w="4763">
              <a:solidFill>
                <a:srgbClr val="DCDDD9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0000"/>
      </c:valAx>
      <c:spPr>
        <a:solidFill>
          <a:srgbClr val="F3F3F0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Patients</c:v>
          </c:tx>
          <c:spPr>
            <a:ln w="28575">
              <a:solidFill>
                <a:srgbClr val="008C95"/>
              </a:solidFill>
            </a:ln>
          </c:spPr>
          <c:marker>
            <c:symbol val="none"/>
          </c:marker>
          <c:cat>
            <c:strRef>
              <c:f>'Chart Data'!$A$2:$A$49</c:f>
              <c:strCache>
                <c:ptCount val="48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  <c:pt idx="42">
                  <c:v>2025-07</c:v>
                </c:pt>
                <c:pt idx="43">
                  <c:v>2025-08</c:v>
                </c:pt>
                <c:pt idx="44">
                  <c:v>2025-09</c:v>
                </c:pt>
                <c:pt idx="45">
                  <c:v>2025-10</c:v>
                </c:pt>
                <c:pt idx="46">
                  <c:v>2025-11</c:v>
                </c:pt>
                <c:pt idx="47">
                  <c:v>2025-12</c:v>
                </c:pt>
              </c:strCache>
            </c:strRef>
          </c:cat>
          <c:val>
            <c:numRef>
              <c:f>'Chart Data'!$B$2:$B$49</c:f>
              <c:numCache>
                <c:formatCode>#,##0</c:formatCode>
                <c:ptCount val="48"/>
                <c:pt idx="0">
                  <c:v>6831</c:v>
                </c:pt>
                <c:pt idx="1">
                  <c:v>5027</c:v>
                </c:pt>
                <c:pt idx="2">
                  <c:v>5525</c:v>
                </c:pt>
                <c:pt idx="3">
                  <c:v>4456</c:v>
                </c:pt>
                <c:pt idx="4">
                  <c:v>3496</c:v>
                </c:pt>
                <c:pt idx="5">
                  <c:v>3170</c:v>
                </c:pt>
                <c:pt idx="6">
                  <c:v>2167</c:v>
                </c:pt>
                <c:pt idx="7">
                  <c:v>2301</c:v>
                </c:pt>
                <c:pt idx="8">
                  <c:v>2045</c:v>
                </c:pt>
                <c:pt idx="9">
                  <c:v>2011</c:v>
                </c:pt>
                <c:pt idx="10">
                  <c:v>1849</c:v>
                </c:pt>
                <c:pt idx="11">
                  <c:v>1575</c:v>
                </c:pt>
                <c:pt idx="12">
                  <c:v>1907</c:v>
                </c:pt>
                <c:pt idx="13">
                  <c:v>1706</c:v>
                </c:pt>
                <c:pt idx="14">
                  <c:v>1741</c:v>
                </c:pt>
                <c:pt idx="15">
                  <c:v>1478</c:v>
                </c:pt>
                <c:pt idx="16">
                  <c:v>1489</c:v>
                </c:pt>
                <c:pt idx="17">
                  <c:v>1397</c:v>
                </c:pt>
                <c:pt idx="18">
                  <c:v>1390</c:v>
                </c:pt>
                <c:pt idx="19">
                  <c:v>1828</c:v>
                </c:pt>
                <c:pt idx="20">
                  <c:v>1495</c:v>
                </c:pt>
                <c:pt idx="21">
                  <c:v>1655</c:v>
                </c:pt>
                <c:pt idx="22">
                  <c:v>1451</c:v>
                </c:pt>
                <c:pt idx="23">
                  <c:v>1285</c:v>
                </c:pt>
                <c:pt idx="24">
                  <c:v>1406</c:v>
                </c:pt>
                <c:pt idx="25">
                  <c:v>1325</c:v>
                </c:pt>
                <c:pt idx="26">
                  <c:v>1340</c:v>
                </c:pt>
                <c:pt idx="27">
                  <c:v>1356</c:v>
                </c:pt>
                <c:pt idx="28">
                  <c:v>1269</c:v>
                </c:pt>
                <c:pt idx="29">
                  <c:v>1102</c:v>
                </c:pt>
                <c:pt idx="30">
                  <c:v>1119</c:v>
                </c:pt>
                <c:pt idx="31">
                  <c:v>1139</c:v>
                </c:pt>
                <c:pt idx="32">
                  <c:v>1115</c:v>
                </c:pt>
                <c:pt idx="33">
                  <c:v>1315</c:v>
                </c:pt>
                <c:pt idx="34">
                  <c:v>987</c:v>
                </c:pt>
                <c:pt idx="35">
                  <c:v>1003</c:v>
                </c:pt>
                <c:pt idx="36">
                  <c:v>1063</c:v>
                </c:pt>
                <c:pt idx="37">
                  <c:v>969</c:v>
                </c:pt>
                <c:pt idx="38">
                  <c:v>990</c:v>
                </c:pt>
                <c:pt idx="39">
                  <c:v>1065</c:v>
                </c:pt>
                <c:pt idx="40">
                  <c:v>931</c:v>
                </c:pt>
                <c:pt idx="41">
                  <c:v>883</c:v>
                </c:pt>
                <c:pt idx="42">
                  <c:v>842</c:v>
                </c:pt>
                <c:pt idx="43">
                  <c:v>806</c:v>
                </c:pt>
                <c:pt idx="44">
                  <c:v>904</c:v>
                </c:pt>
                <c:pt idx="45">
                  <c:v>996</c:v>
                </c:pt>
                <c:pt idx="46">
                  <c:v>803</c:v>
                </c:pt>
                <c:pt idx="47">
                  <c:v>847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7D-5E48-84C1-96FF274A22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4763">
              <a:solidFill>
                <a:srgbClr val="DCDDD9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3F3F0"/>
        </a:solidFill>
      </c:spPr>
    </c:plotArea>
    <c:plotVisOnly val="1"/>
    <c:dispBlanksAs val="zero"/>
    <c:showDLblsOverMax val="1"/>
  </c:chart>
  <c:spPr>
    <a:solidFill>
      <a:srgbClr val="F3F3F0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Patients with recorded need</c:v>
          </c:tx>
          <c:spPr>
            <a:solidFill>
              <a:srgbClr val="F4B21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Transportation</c:v>
                </c:pt>
                <c:pt idx="1">
                  <c:v>Financial strain</c:v>
                </c:pt>
                <c:pt idx="2">
                  <c:v>Food insecurity</c:v>
                </c:pt>
                <c:pt idx="3">
                  <c:v>Basic living costs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1680</c:v>
                </c:pt>
                <c:pt idx="1">
                  <c:v>2253</c:v>
                </c:pt>
                <c:pt idx="2">
                  <c:v>927</c:v>
                </c:pt>
                <c:pt idx="3">
                  <c:v>1459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D4-9C46-8337-9FB4A9ADB3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00"/>
          <c:min val="0"/>
        </c:scaling>
        <c:delete val="0"/>
        <c:axPos val="b"/>
        <c:majorGridlines>
          <c:spPr>
            <a:ln w="4763">
              <a:solidFill>
                <a:srgbClr val="DCDDD9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000"/>
      </c:valAx>
      <c:spPr>
        <a:solidFill>
          <a:srgbClr val="F3F3F0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Patients</c:v>
          </c:tx>
          <c:spPr>
            <a:solidFill>
              <a:srgbClr val="008C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30045</c:v>
                </c:pt>
                <c:pt idx="1">
                  <c:v>2217</c:v>
                </c:pt>
                <c:pt idx="2">
                  <c:v>822</c:v>
                </c:pt>
                <c:pt idx="3">
                  <c:v>466</c:v>
                </c:pt>
                <c:pt idx="4">
                  <c:v>265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79-E64C-B807-2AC4D87C96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w="4763">
              <a:solidFill>
                <a:srgbClr val="DCDDD9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0000"/>
      </c:valAx>
      <c:spPr>
        <a:solidFill>
          <a:srgbClr val="F3F3F0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ED rate</c:v>
          </c:tx>
          <c:spPr>
            <a:solidFill>
              <a:srgbClr val="008C95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F4B21B"/>
              </a:solidFill>
            </c:spPr>
            <c:extLst>
              <c:ext xmlns:c16="http://schemas.microsoft.com/office/drawing/2014/chart" uri="{C3380CC4-5D6E-409C-BE32-E72D297353CC}">
                <c16:uniqueId val="{00000001-7F93-8D44-834A-64A0C74DF17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F93-8D44-834A-64A0C74DF1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Recorded need</c:v>
                </c:pt>
                <c:pt idx="1">
                  <c:v>No recorded need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7.9575596816999994E-2</c:v>
                </c:pt>
                <c:pt idx="1">
                  <c:v>2.2898984856000001E-2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7F93-8D44-834A-64A0C74DF1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w="4763">
              <a:solidFill>
                <a:srgbClr val="DCDDD9"/>
              </a:solidFill>
            </a:ln>
          </c:spPr>
        </c:majorGridlines>
        <c:numFmt formatCode="0.0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3F3F0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Recorded need</c:v>
          </c:tx>
          <c:spPr>
            <a:solidFill>
              <a:srgbClr val="F4B21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Transportation</c:v>
                </c:pt>
                <c:pt idx="1">
                  <c:v>Financial strain</c:v>
                </c:pt>
                <c:pt idx="2">
                  <c:v>Food insecurity</c:v>
                </c:pt>
                <c:pt idx="3">
                  <c:v>Basic living costs</c:v>
                </c:pt>
              </c:strCache>
            </c:strRef>
          </c:cat>
          <c:val>
            <c:numRef>
              <c:f>'Chart Data'!$B$2:$B$5</c:f>
              <c:numCache>
                <c:formatCode>0.00%</c:formatCode>
                <c:ptCount val="4"/>
                <c:pt idx="0">
                  <c:v>0.11130952381000001</c:v>
                </c:pt>
                <c:pt idx="1">
                  <c:v>9.8979138925900004E-2</c:v>
                </c:pt>
                <c:pt idx="2">
                  <c:v>0.116504854369</c:v>
                </c:pt>
                <c:pt idx="3">
                  <c:v>8.6360520904700006E-2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EF-2541-AD0B-8F11D2B7A8E8}"/>
            </c:ext>
          </c:extLst>
        </c:ser>
        <c:ser>
          <c:idx val="1"/>
          <c:order val="1"/>
          <c:tx>
            <c:v>No recorded need</c:v>
          </c:tx>
          <c:spPr>
            <a:solidFill>
              <a:srgbClr val="008C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Transportation</c:v>
                </c:pt>
                <c:pt idx="1">
                  <c:v>Financial strain</c:v>
                </c:pt>
                <c:pt idx="2">
                  <c:v>Food insecurity</c:v>
                </c:pt>
                <c:pt idx="3">
                  <c:v>Basic living costs</c:v>
                </c:pt>
              </c:strCache>
            </c:strRef>
          </c:cat>
          <c:val>
            <c:numRef>
              <c:f>'Chart Data'!$D$2:$D$5</c:f>
              <c:numCache>
                <c:formatCode>0.00%</c:formatCode>
                <c:ptCount val="4"/>
                <c:pt idx="0">
                  <c:v>2.4926093045E-2</c:v>
                </c:pt>
                <c:pt idx="1">
                  <c:v>2.4238007730799999E-2</c:v>
                </c:pt>
                <c:pt idx="2">
                  <c:v>2.6757479931899999E-2</c:v>
                </c:pt>
                <c:pt idx="3">
                  <c:v>2.6641117567100001E-2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0EF-2541-AD0B-8F11D2B7A8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w="4763">
              <a:solidFill>
                <a:srgbClr val="DCDDD9"/>
              </a:solidFill>
            </a:ln>
          </c:spPr>
        </c:majorGridlines>
        <c:numFmt formatCode="0.0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3F3F0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5565A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Recorded need</c:v>
          </c:tx>
          <c:spPr>
            <a:solidFill>
              <a:srgbClr val="F4B21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E11</c:v>
                </c:pt>
                <c:pt idx="1">
                  <c:v>J45</c:v>
                </c:pt>
                <c:pt idx="2">
                  <c:v>I50</c:v>
                </c:pt>
                <c:pt idx="3">
                  <c:v>N18</c:v>
                </c:pt>
                <c:pt idx="4">
                  <c:v>F33</c:v>
                </c:pt>
                <c:pt idx="5">
                  <c:v>I10</c:v>
                </c:pt>
              </c:strCache>
            </c:strRef>
          </c:cat>
          <c:val>
            <c:numRef>
              <c:f>'Chart Data'!$B$2:$B$7</c:f>
              <c:numCache>
                <c:formatCode>0.00%</c:formatCode>
                <c:ptCount val="6"/>
                <c:pt idx="0">
                  <c:v>7.6530612244900001E-2</c:v>
                </c:pt>
                <c:pt idx="1">
                  <c:v>0.12337662337700001</c:v>
                </c:pt>
                <c:pt idx="2">
                  <c:v>6.1475409836100003E-2</c:v>
                </c:pt>
                <c:pt idx="3">
                  <c:v>6.1601642710500002E-3</c:v>
                </c:pt>
                <c:pt idx="4">
                  <c:v>9.8298676748600003E-2</c:v>
                </c:pt>
                <c:pt idx="5">
                  <c:v>4.6287367406E-2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EB8-944B-9FB4-DBAF264A0F76}"/>
            </c:ext>
          </c:extLst>
        </c:ser>
        <c:ser>
          <c:idx val="1"/>
          <c:order val="1"/>
          <c:tx>
            <c:v>No recorded need</c:v>
          </c:tx>
          <c:spPr>
            <a:solidFill>
              <a:srgbClr val="008C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Data'!$C$2:$C$7</c:f>
              <c:strCache>
                <c:ptCount val="6"/>
                <c:pt idx="0">
                  <c:v>E11</c:v>
                </c:pt>
                <c:pt idx="1">
                  <c:v>J45</c:v>
                </c:pt>
                <c:pt idx="2">
                  <c:v>I50</c:v>
                </c:pt>
                <c:pt idx="3">
                  <c:v>N18</c:v>
                </c:pt>
                <c:pt idx="4">
                  <c:v>F33</c:v>
                </c:pt>
                <c:pt idx="5">
                  <c:v>I10</c:v>
                </c:pt>
              </c:strCache>
            </c:strRef>
          </c:cat>
          <c:val>
            <c:numRef>
              <c:f>'Chart Data'!$D$2:$D$7</c:f>
              <c:numCache>
                <c:formatCode>0.00%</c:formatCode>
                <c:ptCount val="6"/>
                <c:pt idx="0">
                  <c:v>2.3366859697199999E-2</c:v>
                </c:pt>
                <c:pt idx="1">
                  <c:v>5.9473884864699997E-2</c:v>
                </c:pt>
                <c:pt idx="2">
                  <c:v>2.11622438697E-2</c:v>
                </c:pt>
                <c:pt idx="3">
                  <c:v>1.05685901501E-3</c:v>
                </c:pt>
                <c:pt idx="4">
                  <c:v>6.4176570458400001E-2</c:v>
                </c:pt>
                <c:pt idx="5">
                  <c:v>1.1470708725899999E-2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EB8-944B-9FB4-DBAF264A0F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6"/>
          <c:min val="0"/>
        </c:scaling>
        <c:delete val="0"/>
        <c:axPos val="l"/>
        <c:majorGridlines>
          <c:spPr>
            <a:ln w="4763">
              <a:solidFill>
                <a:srgbClr val="DCDDD9"/>
              </a:solidFill>
            </a:ln>
          </c:spPr>
        </c:majorGridlines>
        <c:numFmt formatCode="0.0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3F3F0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5565A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Recorded need</c:v>
          </c:tx>
          <c:spPr>
            <a:solidFill>
              <a:srgbClr val="F4B21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All classifiable patients</c:v>
                </c:pt>
                <c:pt idx="1">
                  <c:v>All four domains classified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9.2783505154600002E-2</c:v>
                </c:pt>
                <c:pt idx="1">
                  <c:v>6.9444444444399997E-2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F7A-1348-A975-F5481F239660}"/>
            </c:ext>
          </c:extLst>
        </c:ser>
        <c:ser>
          <c:idx val="1"/>
          <c:order val="1"/>
          <c:tx>
            <c:v>Below threshold</c:v>
          </c:tx>
          <c:spPr>
            <a:solidFill>
              <a:srgbClr val="008C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All classifiable patients</c:v>
                </c:pt>
                <c:pt idx="1">
                  <c:v>All four domains classified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2.3646071700999999E-2</c:v>
                </c:pt>
                <c:pt idx="1">
                  <c:v>2.3646071700999999E-2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F7A-1348-A975-F5481F2396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w="4763">
              <a:solidFill>
                <a:srgbClr val="DCDDD9"/>
              </a:solidFill>
            </a:ln>
          </c:spPr>
        </c:majorGridlines>
        <c:numFmt formatCode="0.0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3F3F0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5565A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Response records</c:v>
          </c:tx>
          <c:spPr>
            <a:solidFill>
              <a:srgbClr val="008C95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F9-6C48-ACFE-D4550FAD6781}"/>
              </c:ext>
            </c:extLst>
          </c:dPt>
          <c:dPt>
            <c:idx val="1"/>
            <c:invertIfNegative val="0"/>
            <c:bubble3D val="0"/>
            <c:spPr>
              <a:solidFill>
                <a:srgbClr val="A9ADAE"/>
              </a:solidFill>
            </c:spPr>
            <c:extLst>
              <c:ext xmlns:c16="http://schemas.microsoft.com/office/drawing/2014/chart" uri="{C3380CC4-5D6E-409C-BE32-E72D297353CC}">
                <c16:uniqueId val="{00000003-68F9-6C48-ACFE-D4550FAD6781}"/>
              </c:ext>
            </c:extLst>
          </c:dPt>
          <c:dPt>
            <c:idx val="2"/>
            <c:invertIfNegative val="0"/>
            <c:bubble3D val="0"/>
            <c:spPr>
              <a:solidFill>
                <a:srgbClr val="F4B21B"/>
              </a:solidFill>
            </c:spPr>
            <c:extLst>
              <c:ext xmlns:c16="http://schemas.microsoft.com/office/drawing/2014/chart" uri="{C3380CC4-5D6E-409C-BE32-E72D297353CC}">
                <c16:uniqueId val="{00000005-68F9-6C48-ACFE-D4550FAD6781}"/>
              </c:ext>
            </c:extLst>
          </c:dPt>
          <c:dPt>
            <c:idx val="3"/>
            <c:invertIfNegative val="0"/>
            <c:bubble3D val="0"/>
            <c:spPr>
              <a:solidFill>
                <a:srgbClr val="A9ADAE"/>
              </a:solidFill>
            </c:spPr>
            <c:extLst>
              <c:ext xmlns:c16="http://schemas.microsoft.com/office/drawing/2014/chart" uri="{C3380CC4-5D6E-409C-BE32-E72D297353CC}">
                <c16:uniqueId val="{00000007-68F9-6C48-ACFE-D4550FAD678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55565A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Before</c:v>
                </c:pt>
                <c:pt idx="1">
                  <c:v>Same day</c:v>
                </c:pt>
                <c:pt idx="2">
                  <c:v>After</c:v>
                </c:pt>
                <c:pt idx="3">
                  <c:v>Date unavailable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19306</c:v>
                </c:pt>
                <c:pt idx="1">
                  <c:v>10958</c:v>
                </c:pt>
                <c:pt idx="2">
                  <c:v>193295</c:v>
                </c:pt>
                <c:pt idx="3">
                  <c:v>60051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68F9-6C48-ACFE-D4550FAD67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4763">
            <a:solidFill>
              <a:srgbClr val="DCDDD9"/>
            </a:solidFill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50000"/>
          <c:min val="0"/>
        </c:scaling>
        <c:delete val="0"/>
        <c:axPos val="l"/>
        <c:majorGridlines>
          <c:spPr>
            <a:ln w="4763">
              <a:solidFill>
                <a:srgbClr val="DCDDD9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50000"/>
      </c:valAx>
      <c:spPr>
        <a:solidFill>
          <a:srgbClr val="F3F3F0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3F3F0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74C8EF-7B9A-4EFD-B627-8EE9D21D0CF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D656B9-157E-415B-8497-4CDFFC0CD35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147D7C-21B6-4920-8510-1912D03EDD88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First Encounters</a:t>
            </a:r>
          </a:p>
          <a:p>
            <a:pPr>
              <a:defRPr sz="510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&amp; Social Needs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8F107-4378-43DB-9D41-2EB369C32295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Exploring how first observed chronic disease encounters differ</a:t>
            </a:r>
          </a:p>
          <a:p>
            <a:pPr>
              <a:defRPr sz="21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by care setting and recorded social needs.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77574-B5ED-4877-9BA1-18BD0C6C20EB}"/>
              </a:ext>
            </a:extLst>
          </p:cNvPr>
          <p:cNvSpPr>
            <a:spLocks noGrp="1"/>
          </p:cNvSpPr>
          <p:nvPr/>
        </p:nvSpPr>
        <p:spPr>
          <a:xfrm>
            <a:off x="647700" y="50292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The8282s   /   DataFest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12D80-DC34-477D-B25E-CA55E071C6EB}"/>
              </a:ext>
            </a:extLst>
          </p:cNvPr>
          <p:cNvSpPr>
            <a:spLocks noGrp="1"/>
          </p:cNvSpPr>
          <p:nvPr/>
        </p:nvSpPr>
        <p:spPr>
          <a:xfrm>
            <a:off x="647700" y="5505450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2022–2025 records</a:t>
            </a:r>
          </a:p>
        </p:txBody>
      </p:sp>
    </p:spTree>
    <p:extLst>
      <p:ext uri="{BB962C8B-B14F-4D97-AF65-F5344CB8AC3E}">
        <p14:creationId xmlns:p14="http://schemas.microsoft.com/office/powerpoint/2010/main" val="2032344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CF4BD6-73E7-4A52-BAB5-FEBA9078FE1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ED and non-ED entry points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C5BCC7-F186-436E-8112-3217CB93A3CC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One first observed chronic disease encounter per patient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EFE93B-4D25-4E3E-B695-25154C0C8C6B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19125" y="1762125"/>
          <a:ext cx="4857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78C4C4D-5618-41C6-8012-EFC692AC6E7E}"/>
              </a:ext>
            </a:extLst>
          </p:cNvPr>
          <p:cNvSpPr>
            <a:spLocks noGrp="1"/>
          </p:cNvSpPr>
          <p:nvPr/>
        </p:nvSpPr>
        <p:spPr>
          <a:xfrm>
            <a:off x="6334125" y="2000250"/>
            <a:ext cx="45720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84,850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C0448-BBDC-426B-81CC-5B6CD34D9472}"/>
              </a:ext>
            </a:extLst>
          </p:cNvPr>
          <p:cNvSpPr>
            <a:spLocks noGrp="1"/>
          </p:cNvSpPr>
          <p:nvPr/>
        </p:nvSpPr>
        <p:spPr>
          <a:xfrm>
            <a:off x="6381750" y="284797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patients in the full cohort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AE6228-8C19-4CB2-B24C-699ED8DBAA53}"/>
              </a:ext>
            </a:extLst>
          </p:cNvPr>
          <p:cNvSpPr>
            <a:spLocks noGrp="1"/>
          </p:cNvSpPr>
          <p:nvPr/>
        </p:nvSpPr>
        <p:spPr>
          <a:xfrm>
            <a:off x="6334125" y="3524250"/>
            <a:ext cx="4572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3.64%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73931-D716-4735-981F-12227FD8A074}"/>
              </a:ext>
            </a:extLst>
          </p:cNvPr>
          <p:cNvSpPr>
            <a:spLocks noGrp="1"/>
          </p:cNvSpPr>
          <p:nvPr/>
        </p:nvSpPr>
        <p:spPr>
          <a:xfrm>
            <a:off x="6381750" y="438150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3,092 ED first encounters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A3BED5-BD44-4294-89AA-0D61F544FE33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First observed in this dataset, not necessarily the first diagnosis. Non-ED can include inpatient care.</a:t>
            </a:r>
          </a:p>
        </p:txBody>
      </p:sp>
    </p:spTree>
    <p:extLst>
      <p:ext uri="{BB962C8B-B14F-4D97-AF65-F5344CB8AC3E}">
        <p14:creationId xmlns:p14="http://schemas.microsoft.com/office/powerpoint/2010/main" val="64258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629371-071F-4BDD-993E-4C49C1E8AD0E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ED rates by disease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3B4CA0-1DE9-4395-9100-70D2489DD85A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Each patient contributes one first observed encounter per disease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608A21-D309-41E5-B291-65013DF87551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571500" y="1762125"/>
          <a:ext cx="70485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8048625" y="1905000"/>
          <a:ext cx="3476625" cy="3333750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Disease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/ 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N18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25 / 12,205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I10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996 / 53,567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I50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162 / 7,228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E11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762 / 25,668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F33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600 / 9,147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J45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1,057 / 9,782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CF76CCD-36BE-40D5-914E-31672146F282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117,597 patient–disease pairs across 84,850 patients. A patient may appear in several disease groups.</a:t>
            </a:r>
          </a:p>
        </p:txBody>
      </p:sp>
    </p:spTree>
    <p:extLst>
      <p:ext uri="{BB962C8B-B14F-4D97-AF65-F5344CB8AC3E}">
        <p14:creationId xmlns:p14="http://schemas.microsoft.com/office/powerpoint/2010/main" val="207567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47A05E-AD08-44AD-81B4-1CB7632FBFB4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First-encounter 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E34349-FE85-4F33-8B68-C47365790255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Encounter type describes the record, while the ED flag identifies emergency visits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7B9A5F-F7F6-4523-ADC4-62A3BFEBC67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571500" y="1714500"/>
          <a:ext cx="75247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A778D0C-44FD-4F51-B882-451AC297A4FE}"/>
              </a:ext>
            </a:extLst>
          </p:cNvPr>
          <p:cNvSpPr>
            <a:spLocks noGrp="1"/>
          </p:cNvSpPr>
          <p:nvPr/>
        </p:nvSpPr>
        <p:spPr>
          <a:xfrm>
            <a:off x="8620125" y="2238375"/>
            <a:ext cx="2952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3,092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A0E2A-F311-48ED-BC6B-F56BF4E557A1}"/>
              </a:ext>
            </a:extLst>
          </p:cNvPr>
          <p:cNvSpPr>
            <a:spLocks noGrp="1"/>
          </p:cNvSpPr>
          <p:nvPr/>
        </p:nvSpPr>
        <p:spPr>
          <a:xfrm>
            <a:off x="8620125" y="30480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ED first encounters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CB151E-9CB0-4F85-8B7B-8EB83D4B4EE8}"/>
              </a:ext>
            </a:extLst>
          </p:cNvPr>
          <p:cNvSpPr>
            <a:spLocks noGrp="1"/>
          </p:cNvSpPr>
          <p:nvPr/>
        </p:nvSpPr>
        <p:spPr>
          <a:xfrm>
            <a:off x="8620125" y="3638550"/>
            <a:ext cx="295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All have the recorded type</a:t>
            </a:r>
          </a:p>
          <a:p>
            <a:pPr>
              <a:defRPr sz="18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Hospital Encounter.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DE16A3-B286-4A57-A05B-560D980B1222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Full cohort: 84,850 patients. “Other types” combines 11 less frequent categories.</a:t>
            </a:r>
          </a:p>
        </p:txBody>
      </p:sp>
    </p:spTree>
    <p:extLst>
      <p:ext uri="{BB962C8B-B14F-4D97-AF65-F5344CB8AC3E}">
        <p14:creationId xmlns:p14="http://schemas.microsoft.com/office/powerpoint/2010/main" val="66075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8F8E76-495C-41A3-B2A9-FD9A96EC9F57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First encounters over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9E8C98-D84B-46BA-BB96-3C22496E6C7E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Monthly volume and annual ED 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C8E13-BDE4-4EB4-A29D-5A156CA9441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571500" y="1809750"/>
          <a:ext cx="714375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F33D68E-CEB5-4422-976F-BEADD40AB3A7}"/>
              </a:ext>
            </a:extLst>
          </p:cNvPr>
          <p:cNvSpPr>
            <a:spLocks noGrp="1"/>
          </p:cNvSpPr>
          <p:nvPr/>
        </p:nvSpPr>
        <p:spPr>
          <a:xfrm>
            <a:off x="1095375" y="52292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Jan 2022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38250E-7B00-4CB4-9AE7-CFE59A83556D}"/>
              </a:ext>
            </a:extLst>
          </p:cNvPr>
          <p:cNvSpPr>
            <a:spLocks noGrp="1"/>
          </p:cNvSpPr>
          <p:nvPr/>
        </p:nvSpPr>
        <p:spPr>
          <a:xfrm>
            <a:off x="6429375" y="5229225"/>
            <a:ext cx="1381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Dec 2025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8001000" y="2143125"/>
          <a:ext cx="3619500" cy="2667000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rate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40,453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2.04%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18,822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4.62%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14,476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4.88%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11,099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6.23%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E5BA05D-F549-4B77-8932-BB9C7D31E5A0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Months run from January 2022 to December 2025. The start of the observation window can affect first-encounter volume.</a:t>
            </a:r>
          </a:p>
        </p:txBody>
      </p:sp>
    </p:spTree>
    <p:extLst>
      <p:ext uri="{BB962C8B-B14F-4D97-AF65-F5344CB8AC3E}">
        <p14:creationId xmlns:p14="http://schemas.microsoft.com/office/powerpoint/2010/main" val="99158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3928BB-79FA-46D7-ABAD-ACCC0B935F29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Recorded social needs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BD611A-A409-435A-B5E4-0277BD050D74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All-period summaries linked to the first-encounter cohort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5139FE-31FC-4C31-A246-D98988F8F680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71500" y="1952625"/>
          <a:ext cx="74295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F4EC818-4A0A-48D7-91C3-8C1078D40D02}"/>
              </a:ext>
            </a:extLst>
          </p:cNvPr>
          <p:cNvSpPr>
            <a:spLocks noGrp="1"/>
          </p:cNvSpPr>
          <p:nvPr/>
        </p:nvSpPr>
        <p:spPr>
          <a:xfrm>
            <a:off x="8524875" y="1952625"/>
            <a:ext cx="2952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33,815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930007-A2DB-4178-9184-8E17F5A6CDAE}"/>
              </a:ext>
            </a:extLst>
          </p:cNvPr>
          <p:cNvSpPr>
            <a:spLocks noGrp="1"/>
          </p:cNvSpPr>
          <p:nvPr/>
        </p:nvSpPr>
        <p:spPr>
          <a:xfrm>
            <a:off x="8572500" y="2724150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patients with linked</a:t>
            </a:r>
          </a:p>
          <a:p>
            <a:pPr>
              <a:defRPr sz="18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all-period summaries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DEA42C-D5D4-4975-B2A8-6F75B3719139}"/>
              </a:ext>
            </a:extLst>
          </p:cNvPr>
          <p:cNvSpPr>
            <a:spLocks noGrp="1"/>
          </p:cNvSpPr>
          <p:nvPr/>
        </p:nvSpPr>
        <p:spPr>
          <a:xfrm>
            <a:off x="8524875" y="3819525"/>
            <a:ext cx="295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737779"/>
                </a:solidFill>
                <a:latin typeface="Arial"/>
                <a:ea typeface="Arial"/>
                <a:cs typeface="Arial"/>
              </a:rPr>
              <a:t>51,035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03857F-BDD4-4A3B-9D6F-9F25C16606AB}"/>
              </a:ext>
            </a:extLst>
          </p:cNvPr>
          <p:cNvSpPr>
            <a:spLocks noGrp="1"/>
          </p:cNvSpPr>
          <p:nvPr/>
        </p:nvSpPr>
        <p:spPr>
          <a:xfrm>
            <a:off x="8572500" y="4486275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patients without a</a:t>
            </a:r>
          </a:p>
          <a:p>
            <a:pPr>
              <a:defRPr sz="18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linked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47DCE-8BE2-42B1-A64E-104647F0BC79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Domain counts overlap. No recorded need can include unanswered questions. Records can come from after the first encounter.</a:t>
            </a:r>
          </a:p>
        </p:txBody>
      </p:sp>
    </p:spTree>
    <p:extLst>
      <p:ext uri="{BB962C8B-B14F-4D97-AF65-F5344CB8AC3E}">
        <p14:creationId xmlns:p14="http://schemas.microsoft.com/office/powerpoint/2010/main" val="27956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D5C81E-2479-4601-93A7-16EF0DF0014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Number of recorded need domains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859C69-F453-49D1-BD3C-6322781D3BDE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All-period summary patients only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CEADA5-40F2-4C2B-BD9E-10C41F109185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571500" y="1905000"/>
          <a:ext cx="638175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7334250" y="2000250"/>
          <a:ext cx="4286250" cy="312833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9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Flagged domains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/ 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rate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688 / 30,045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2.29%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118 / 2,217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5.32%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72 / 822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8.76%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58 / 466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12.45%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52 / 265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19.62%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7F7E3E0-D828-474D-BE7D-3E68161C6CFD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Denominator: 33,815 linked patients. Zero flagged domains does not establish a complete negative screen.</a:t>
            </a:r>
          </a:p>
        </p:txBody>
      </p:sp>
    </p:spTree>
    <p:extLst>
      <p:ext uri="{BB962C8B-B14F-4D97-AF65-F5344CB8AC3E}">
        <p14:creationId xmlns:p14="http://schemas.microsoft.com/office/powerpoint/2010/main" val="163520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6516D91-75A0-4C4B-979A-08A3A1B7301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Recorded needs and ED entry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61EECE-F1E4-48F1-981C-8DFF76FAE0CC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All-period social-need flags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45F5B3-9C23-45F1-A9C3-D859003D91EE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762000" y="1809750"/>
          <a:ext cx="70485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8096250" y="2286000"/>
          <a:ext cx="3429000" cy="228600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/ 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300 / 3,770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No 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688 / 30,045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2431D36-F988-4765-B1FD-99B20FD4BF69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These groups differ in recorded need status. The comparison does not control for severity, screening selection, or other confounding.</a:t>
            </a:r>
          </a:p>
        </p:txBody>
      </p:sp>
    </p:spTree>
    <p:extLst>
      <p:ext uri="{BB962C8B-B14F-4D97-AF65-F5344CB8AC3E}">
        <p14:creationId xmlns:p14="http://schemas.microsoft.com/office/powerpoint/2010/main" val="1395798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372059-2027-4298-9E83-0C24AEB1300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ED rates across social-need domains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08F0B-37A9-4538-AF31-D3F08A3FCF68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All-period flags within the linked cohort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6A8CBC-3473-42C9-928B-7E95D912418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571500" y="1762125"/>
          <a:ext cx="11049000" cy="276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571500" y="4686300"/>
          <a:ext cx="11049000" cy="11620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/ 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Transportation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Financial strain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Food insecurity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Basic living costs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187 / 1,680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223 / 2,253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108 / 927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126 / 1,459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No 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801 / 32,135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765 / 31,562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880 / 32,888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862 / 32,356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26FAA19-C4B9-452D-B6E5-4FF46AB48D06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Domains overlap. Each domain comparison uses the same linked cohort, grouped by that domain’s recorded flag.</a:t>
            </a:r>
          </a:p>
        </p:txBody>
      </p:sp>
    </p:spTree>
    <p:extLst>
      <p:ext uri="{BB962C8B-B14F-4D97-AF65-F5344CB8AC3E}">
        <p14:creationId xmlns:p14="http://schemas.microsoft.com/office/powerpoint/2010/main" val="1617436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D67ED5-FF3D-490B-A31B-2BFE364F108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Disease-specific social-need comparisons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FF3EB2-0D5D-4002-9A04-376957BD0EBC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Each rate uses that disease’s first observed encounter and an all-period need flag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22CFB3-97CE-47B6-B958-E714FA8DB4B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571500" y="1666875"/>
          <a:ext cx="11049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571500" y="4686300"/>
          <a:ext cx="11049000" cy="1162050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/ 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E11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J45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I50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N18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F33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I10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105 / 1,372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57 / 462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30 / 488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 / 487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104 / 1,058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96 / 2,074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No 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230 / 9,843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156 / 2,623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63 / 2,977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5 / 4,731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189 / 2,945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252 / 21,969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7AD2AE5-7C9C-4558-AD21-26C91F8212AC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E11 diabetes   J45 asthma   I50 heart failure   N18 kidney disease   F33 recurrent depression   I10 hypertension</a:t>
            </a:r>
          </a:p>
        </p:txBody>
      </p:sp>
    </p:spTree>
    <p:extLst>
      <p:ext uri="{BB962C8B-B14F-4D97-AF65-F5344CB8AC3E}">
        <p14:creationId xmlns:p14="http://schemas.microsoft.com/office/powerpoint/2010/main" val="1566878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FB5FB9-864F-4453-B1E6-10A75BA93B84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ED flags within encounter 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FB0A7-EF04-4EE9-93DD-B4BF3EEE53C4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Selected encounter types from the all-period linked cohort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F3483-E3B8-4E66-86C7-A4C1D6AA5960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571500" y="1857375"/>
          <a:ext cx="11049000" cy="323850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Encounter type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Recorded need</a:t>
                      </a:r>
                    </a:p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rate and ED / 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No recorded need</a:t>
                      </a:r>
                    </a:p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rate and ED / 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Hospital Encounter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36.72%</a:t>
                      </a:r>
                    </a:p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300 / 817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36.97%</a:t>
                      </a:r>
                    </a:p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688 / 1,861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Appointment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 / 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 / 22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Patient Outreach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 / 137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 / 600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Telemedicine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 / 134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0 / 636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EA3B1B0-7DC0-417F-8452-91E54A798A25}"/>
              </a:ext>
            </a:extLst>
          </p:cNvPr>
          <p:cNvSpPr>
            <a:spLocks noGrp="1"/>
          </p:cNvSpPr>
          <p:nvPr/>
        </p:nvSpPr>
        <p:spPr>
          <a:xfrm>
            <a:off x="619125" y="5191125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A 0% ED rate describes these encounters. It does not measure whether outreach or telemedicine prevented later ED visits.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FD91A9-4F5A-43CC-A4B5-F3D211C55117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No observations means an empty group. A zero rate means the group has observations but no recorded ED flags.</a:t>
            </a:r>
          </a:p>
        </p:txBody>
      </p:sp>
    </p:spTree>
    <p:extLst>
      <p:ext uri="{BB962C8B-B14F-4D97-AF65-F5344CB8AC3E}">
        <p14:creationId xmlns:p14="http://schemas.microsoft.com/office/powerpoint/2010/main" val="114146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2C27B4-0FB1-40B8-B5B5-A6BF46AD658F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Coverage before the first encounter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C037C7-9F30-42F1-B5BE-3198D6FA0317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Latest eligible answer per question, strictly before the first-encounter 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3BB1C3-180D-41DB-8374-D91C72F5BC42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3EC7F7-CB95-400F-B9EE-8D9003CB2A8B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5429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1.77%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5E91F-CD05-4F6F-BE28-7ED8B230CE3D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54292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1,505 of 84,850 patients</a:t>
            </a:r>
          </a:p>
          <a:p>
            <a:pPr>
              <a:defRPr sz="21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have a classifiable need status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6E911-53D1-40A0-B6DB-F83AF83FAB61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5524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2,410 patients have an eligible response.</a:t>
            </a:r>
          </a:p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Some still lack enough information to classify.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6905625" y="2095500"/>
          <a:ext cx="4714875" cy="261937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194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Below threshold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1,311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83,345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6FFED11-1AFC-45A6-A12D-E83C08B29B5D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One positive domain establishes recorded need. Below threshold requires all four domains to be classifiable.</a:t>
            </a:r>
          </a:p>
        </p:txBody>
      </p:sp>
    </p:spTree>
    <p:extLst>
      <p:ext uri="{BB962C8B-B14F-4D97-AF65-F5344CB8AC3E}">
        <p14:creationId xmlns:p14="http://schemas.microsoft.com/office/powerpoint/2010/main" val="1260273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83D4D7-4CA4-4645-8282-ED963EB00D8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ED rates using prior responses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57A464-F62D-4004-B5EC-FAB7362585B3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Primary food threshold: “Often true”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4C9F0-61B5-462A-AE3B-86BBEB23F9C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571500" y="1714500"/>
          <a:ext cx="11049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1714500" y="4686300"/>
          <a:ext cx="8763000" cy="119062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ED / patients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All classifiable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All four domains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18 / 194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10 / 144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Below threshold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31 / 1,311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31 / 1,311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C51A7F1-1047-46FC-9FF5-A4EA9E85D11A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Small, selected groups limit interpretation. Complete-domain restriction changes the positive group and its ED rate.</a:t>
            </a:r>
          </a:p>
        </p:txBody>
      </p:sp>
    </p:spTree>
    <p:extLst>
      <p:ext uri="{BB962C8B-B14F-4D97-AF65-F5344CB8AC3E}">
        <p14:creationId xmlns:p14="http://schemas.microsoft.com/office/powerpoint/2010/main" val="207428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23B25D-F2F7-460D-80EA-583D665EC7F7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Food-threshold sensitivity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AD63E3-CBDC-427E-ABB9-2BC40AD6E3D8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The broader definition adds “Sometimes true” to the food flag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1AA9E-A110-4FCF-BF5B-80E87BB8909E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571500" y="1905000"/>
          <a:ext cx="11049000" cy="3238500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Primary threshold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8C95"/>
                          </a:solidFill>
                          <a:latin typeface="Arial"/>
                          <a:ea typeface="Arial"/>
                          <a:cs typeface="Arial"/>
                        </a:rPr>
                        <a:t>Broader threshold</a:t>
                      </a:r>
                    </a:p>
                  </a:txBody>
                  <a:tcPr>
                    <a:solidFill>
                      <a:srgbClr val="E4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194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233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ED among recorded need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18 / 194 (9.28%)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19 / 233 (8.15%)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Below threshold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1,311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1,290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ED among below threshold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31 / 1,311 (2.36%)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30 / 1,290 (2.33%)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83,345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55565A"/>
                          </a:solidFill>
                          <a:latin typeface="Arial"/>
                          <a:ea typeface="Arial"/>
                          <a:cs typeface="Arial"/>
                        </a:rPr>
                        <a:t>83,327</a:t>
                      </a:r>
                    </a:p>
                  </a:txBody>
                  <a:tcPr>
                    <a:solidFill>
                      <a:srgbClr val="F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6B41612-00E0-4554-A5C6-E402B0AEA7D3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Both definitions use prior responses. Changing the threshold can change both classification and the comparison denominator.</a:t>
            </a:r>
          </a:p>
        </p:txBody>
      </p:sp>
    </p:spTree>
    <p:extLst>
      <p:ext uri="{BB962C8B-B14F-4D97-AF65-F5344CB8AC3E}">
        <p14:creationId xmlns:p14="http://schemas.microsoft.com/office/powerpoint/2010/main" val="311304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9BAAAF-B88E-4597-B143-0742D7993F3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When the survey responses occurred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F2F507-6764-4806-AD94-C445484E09FF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Full source cohort, across the four target domains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197F2E-F373-4F93-9E0E-88D862C7A005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571500" y="1809750"/>
          <a:ext cx="1104900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8EB9099-8526-4F60-8AEF-F2A843496208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283,610 response records, not patients. Only the 19,306 earlier records qualify for the prior-response analysis.</a:t>
            </a:r>
          </a:p>
        </p:txBody>
      </p:sp>
    </p:spTree>
    <p:extLst>
      <p:ext uri="{BB962C8B-B14F-4D97-AF65-F5344CB8AC3E}">
        <p14:creationId xmlns:p14="http://schemas.microsoft.com/office/powerpoint/2010/main" val="816013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B0D3D92-DB6E-48E6-9B83-ACE42CCE497B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What the analysis shows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2EA3FB-4901-4F82-B7B9-04B609B6C6C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Findings from first observed encounters and recorded social needs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527FF-9BF5-48AC-81FA-A04C524CD8B1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D9FED-5268-40FA-B3A7-443F3FDF1D25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33362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3.64%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75838-16E6-46B2-B691-454890BFB44F}"/>
              </a:ext>
            </a:extLst>
          </p:cNvPr>
          <p:cNvSpPr>
            <a:spLocks noGrp="1"/>
          </p:cNvSpPr>
          <p:nvPr/>
        </p:nvSpPr>
        <p:spPr>
          <a:xfrm>
            <a:off x="3238500" y="2066925"/>
            <a:ext cx="8096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of patients entered through an ED-flagged encounter</a:t>
            </a:r>
          </a:p>
          <a:p>
            <a:pPr>
              <a:defRPr sz="21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in the observed chronic-disease cohort.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B2340-69B8-4ED9-AC78-CD218CB1ADC1}"/>
              </a:ext>
            </a:extLst>
          </p:cNvPr>
          <p:cNvSpPr>
            <a:spLocks noGrp="1"/>
          </p:cNvSpPr>
          <p:nvPr/>
        </p:nvSpPr>
        <p:spPr>
          <a:xfrm>
            <a:off x="619125" y="34480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F4B21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B21B"/>
                </a:solidFill>
                <a:latin typeface="Arial"/>
                <a:ea typeface="Arial"/>
                <a:cs typeface="Arial"/>
              </a:rPr>
              <a:t>7.96% vs 2.29%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BDEEBF-6621-4EAE-A736-337EC2DED911}"/>
              </a:ext>
            </a:extLst>
          </p:cNvPr>
          <p:cNvSpPr>
            <a:spLocks noGrp="1"/>
          </p:cNvSpPr>
          <p:nvPr/>
        </p:nvSpPr>
        <p:spPr>
          <a:xfrm>
            <a:off x="4333875" y="3457575"/>
            <a:ext cx="69532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ED rates with and without recorded need</a:t>
            </a:r>
          </a:p>
          <a:p>
            <a:pPr>
              <a:defRPr sz="21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in the all-period linked summaries.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CD045-AF02-414C-ADEB-29FF050EC01F}"/>
              </a:ext>
            </a:extLst>
          </p:cNvPr>
          <p:cNvSpPr>
            <a:spLocks noGrp="1"/>
          </p:cNvSpPr>
          <p:nvPr/>
        </p:nvSpPr>
        <p:spPr>
          <a:xfrm>
            <a:off x="619125" y="482917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1,505 patients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590986-B3DE-4078-9D25-D675861EF7E8}"/>
              </a:ext>
            </a:extLst>
          </p:cNvPr>
          <p:cNvSpPr>
            <a:spLocks noGrp="1"/>
          </p:cNvSpPr>
          <p:nvPr/>
        </p:nvSpPr>
        <p:spPr>
          <a:xfrm>
            <a:off x="4333875" y="4800600"/>
            <a:ext cx="704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have classifiable prior-response status.</a:t>
            </a:r>
          </a:p>
          <a:p>
            <a:pPr>
              <a:defRPr sz="21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Missing information limits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1513765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4C44EC0-BFF4-4863-93A6-5E66ECDDDBBE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Earlier screening and access 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F70AE6-02E5-4262-A3A5-3C8EBE224028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Proposals to test using current social-need information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8D6D0-D290-437E-B98E-F6F0787D754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93A301-6EB6-4A6E-83A1-174C4EDF7569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Improve screening records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C12BE-CA6C-471C-8F2C-F02C3C9B70C2}"/>
              </a:ext>
            </a:extLst>
          </p:cNvPr>
          <p:cNvSpPr>
            <a:spLocks noGrp="1"/>
          </p:cNvSpPr>
          <p:nvPr/>
        </p:nvSpPr>
        <p:spPr>
          <a:xfrm>
            <a:off x="619125" y="2295525"/>
            <a:ext cx="5095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1.77%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3895C-9FE7-4D19-90ED-9786A74D4783}"/>
              </a:ext>
            </a:extLst>
          </p:cNvPr>
          <p:cNvSpPr>
            <a:spLocks noGrp="1"/>
          </p:cNvSpPr>
          <p:nvPr/>
        </p:nvSpPr>
        <p:spPr>
          <a:xfrm>
            <a:off x="619125" y="2943225"/>
            <a:ext cx="5143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1,505 / 84,850 patients have classifiable</a:t>
            </a:r>
          </a:p>
          <a:p>
            <a:pPr>
              <a:defRPr sz="18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responses before their first encounter.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2B1EAA-51C1-4252-B4B6-6B2C7BAF3B2A}"/>
              </a:ext>
            </a:extLst>
          </p:cNvPr>
          <p:cNvSpPr>
            <a:spLocks noGrp="1"/>
          </p:cNvSpPr>
          <p:nvPr/>
        </p:nvSpPr>
        <p:spPr>
          <a:xfrm>
            <a:off x="619125" y="3952875"/>
            <a:ext cx="5143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Record response dates and missing-answer</a:t>
            </a:r>
          </a:p>
          <a:p>
            <a:pPr>
              <a:defRPr sz="18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reasons. Review unanswered items before care.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6EB1F2-0EF8-4760-B1CF-BDB7E200D112}"/>
              </a:ext>
            </a:extLst>
          </p:cNvPr>
          <p:cNvSpPr>
            <a:spLocks noGrp="1"/>
          </p:cNvSpPr>
          <p:nvPr/>
        </p:nvSpPr>
        <p:spPr>
          <a:xfrm>
            <a:off x="619125" y="5067300"/>
            <a:ext cx="5143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Track prior-response coverage and</a:t>
            </a:r>
          </a:p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completion across all four domains.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81F484-DCBC-41BE-B3C0-1E890B9A132A}"/>
              </a:ext>
            </a:extLst>
          </p:cNvPr>
          <p:cNvSpPr>
            <a:spLocks noGrp="1"/>
          </p:cNvSpPr>
          <p:nvPr/>
        </p:nvSpPr>
        <p:spPr>
          <a:xfrm>
            <a:off x="6286500" y="17621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Pilot transportation support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AB3083-8563-4204-9CE1-73E9C2AB8B3F}"/>
              </a:ext>
            </a:extLst>
          </p:cNvPr>
          <p:cNvSpPr>
            <a:spLocks noGrp="1"/>
          </p:cNvSpPr>
          <p:nvPr/>
        </p:nvSpPr>
        <p:spPr>
          <a:xfrm>
            <a:off x="6286500" y="2295525"/>
            <a:ext cx="523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11.13% vs 2.49%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269E08-99BE-4B0B-9166-72D48674CC9A}"/>
              </a:ext>
            </a:extLst>
          </p:cNvPr>
          <p:cNvSpPr>
            <a:spLocks noGrp="1"/>
          </p:cNvSpPr>
          <p:nvPr/>
        </p:nvSpPr>
        <p:spPr>
          <a:xfrm>
            <a:off x="6286500" y="2943225"/>
            <a:ext cx="52387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ED rates with and without recorded transport need</a:t>
            </a:r>
          </a:p>
          <a:p>
            <a:pPr>
              <a:defRPr sz="172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187 / 1,680 vs 801 / 32,135 patients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08221-7719-4FCE-BF23-B135413CA715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5238750" cy="1019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Confirm current barriers, then offer transport</a:t>
            </a:r>
          </a:p>
          <a:p>
            <a:pPr>
              <a:defRPr sz="18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or appointment support. Consider telemedicine</a:t>
            </a:r>
          </a:p>
          <a:p>
            <a:pPr>
              <a:defRPr sz="187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when suitable.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6C627-A2BC-4383-8297-5AAAC4F89625}"/>
              </a:ext>
            </a:extLst>
          </p:cNvPr>
          <p:cNvSpPr>
            <a:spLocks noGrp="1"/>
          </p:cNvSpPr>
          <p:nvPr/>
        </p:nvSpPr>
        <p:spPr>
          <a:xfrm>
            <a:off x="6286500" y="5172075"/>
            <a:ext cx="5238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Track support uptake, appointment attendance,</a:t>
            </a:r>
          </a:p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and connection to follow-up care.</a:t>
            </a:r>
          </a:p>
        </p:txBody>
      </p:sp>
    </p:spTree>
    <p:extLst>
      <p:ext uri="{BB962C8B-B14F-4D97-AF65-F5344CB8AC3E}">
        <p14:creationId xmlns:p14="http://schemas.microsoft.com/office/powerpoint/2010/main" val="519147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F84CA4C-F2E1-4BAB-8A73-903650C99D7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Asthma follow-up and pilot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B20ADE-AC09-4539-B663-B684738EDD10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A focused service pilot with clearly defined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EFF779-3198-4214-93E7-12033E06B98C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3E175D-2FCE-4123-8F03-B522C8381CBA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Review asthma care connections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54058-0FA5-489A-8E31-71B78102ECE2}"/>
              </a:ext>
            </a:extLst>
          </p:cNvPr>
          <p:cNvSpPr>
            <a:spLocks noGrp="1"/>
          </p:cNvSpPr>
          <p:nvPr/>
        </p:nvSpPr>
        <p:spPr>
          <a:xfrm>
            <a:off x="619125" y="2295525"/>
            <a:ext cx="523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10.81% overall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5992C-A580-41E2-AE16-57BDFEEA5B7A}"/>
              </a:ext>
            </a:extLst>
          </p:cNvPr>
          <p:cNvSpPr>
            <a:spLocks noGrp="1"/>
          </p:cNvSpPr>
          <p:nvPr/>
        </p:nvSpPr>
        <p:spPr>
          <a:xfrm>
            <a:off x="619125" y="2943225"/>
            <a:ext cx="5238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1,057 / 9,782 asthma patients had an ED</a:t>
            </a:r>
          </a:p>
          <a:p>
            <a:pPr>
              <a:defRPr sz="172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first observed encounter, highest of six groups.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59360-AFB9-4867-B4E8-422AAAC65E3B}"/>
              </a:ext>
            </a:extLst>
          </p:cNvPr>
          <p:cNvSpPr>
            <a:spLocks noGrp="1"/>
          </p:cNvSpPr>
          <p:nvPr/>
        </p:nvSpPr>
        <p:spPr>
          <a:xfrm>
            <a:off x="619125" y="3914775"/>
            <a:ext cx="5238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5565A"/>
                </a:solidFill>
                <a:latin typeface="Arial"/>
                <a:ea typeface="Arial"/>
                <a:cs typeface="Arial"/>
              </a:rPr>
              <a:t>12.34% vs 5.95%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E2E4E-5169-4B68-BA96-43631C2BDC90}"/>
              </a:ext>
            </a:extLst>
          </p:cNvPr>
          <p:cNvSpPr>
            <a:spLocks noGrp="1"/>
          </p:cNvSpPr>
          <p:nvPr/>
        </p:nvSpPr>
        <p:spPr>
          <a:xfrm>
            <a:off x="619125" y="4419600"/>
            <a:ext cx="523875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With vs without any recorded need</a:t>
            </a:r>
          </a:p>
          <a:p>
            <a:pPr>
              <a:defRPr sz="1725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57 / 462 vs 156 / 2,623 patients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177417-8327-4FE2-8403-E011848A8763}"/>
              </a:ext>
            </a:extLst>
          </p:cNvPr>
          <p:cNvSpPr>
            <a:spLocks noGrp="1"/>
          </p:cNvSpPr>
          <p:nvPr/>
        </p:nvSpPr>
        <p:spPr>
          <a:xfrm>
            <a:off x="619125" y="5238750"/>
            <a:ext cx="523875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Offer follow-up booking support to asthma</a:t>
            </a:r>
          </a:p>
          <a:p>
            <a:pPr>
              <a:defRPr sz="180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patients with confirmed current support needs.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BCCC5-8B9A-4076-843E-3CF49864A6CA}"/>
              </a:ext>
            </a:extLst>
          </p:cNvPr>
          <p:cNvSpPr>
            <a:spLocks noGrp="1"/>
          </p:cNvSpPr>
          <p:nvPr/>
        </p:nvSpPr>
        <p:spPr>
          <a:xfrm>
            <a:off x="6286500" y="17621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Evaluate before scaling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C60C6A-D926-4DDC-850D-9399C60196FE}"/>
              </a:ext>
            </a:extLst>
          </p:cNvPr>
          <p:cNvSpPr>
            <a:spLocks noGrp="1"/>
          </p:cNvSpPr>
          <p:nvPr/>
        </p:nvSpPr>
        <p:spPr>
          <a:xfrm>
            <a:off x="6286500" y="2409825"/>
            <a:ext cx="52387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Define a pilot start date, follow-up window,</a:t>
            </a:r>
          </a:p>
          <a:p>
            <a:pPr>
              <a:defRPr sz="195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and a suitable comparison group.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CC588-1A5B-44DC-A4E7-7807C384F902}"/>
              </a:ext>
            </a:extLst>
          </p:cNvPr>
          <p:cNvSpPr>
            <a:spLocks noGrp="1"/>
          </p:cNvSpPr>
          <p:nvPr/>
        </p:nvSpPr>
        <p:spPr>
          <a:xfrm>
            <a:off x="6286500" y="3381375"/>
            <a:ext cx="52387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Measure appointment attendance and care</a:t>
            </a:r>
          </a:p>
          <a:p>
            <a:pPr>
              <a:defRPr sz="195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connections. Evaluate subsequent ED use</a:t>
            </a:r>
          </a:p>
          <a:p>
            <a:pPr>
              <a:defRPr sz="1950" b="0">
                <a:solidFill>
                  <a:srgbClr val="5556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with differences between groups in mind.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47EE10-01BB-4D46-8CA7-0285309ED76E}"/>
              </a:ext>
            </a:extLst>
          </p:cNvPr>
          <p:cNvSpPr>
            <a:spLocks noGrp="1"/>
          </p:cNvSpPr>
          <p:nvPr/>
        </p:nvSpPr>
        <p:spPr>
          <a:xfrm>
            <a:off x="6286500" y="4714875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Two or more flagged domains could prompt</a:t>
            </a:r>
          </a:p>
          <a:p>
            <a:pPr>
              <a:defRPr sz="18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staff review. This cutoff is not validated for</a:t>
            </a:r>
          </a:p>
          <a:p>
            <a:pPr>
              <a:defRPr sz="1800" b="0">
                <a:solidFill>
                  <a:srgbClr val="737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7779"/>
                </a:solidFill>
                <a:latin typeface="Arial"/>
                <a:ea typeface="Arial"/>
                <a:cs typeface="Arial"/>
              </a:rPr>
              <a:t>automatic care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21010060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1193</Words>
  <Application>Microsoft Macintosh PowerPoint</Application>
  <DocSecurity>0</DocSecurity>
  <PresentationFormat>Widescreen</PresentationFormat>
  <Paragraphs>287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Kim, Jeongyoon (2019)</cp:lastModifiedBy>
  <cp:revision>2</cp:revision>
  <dcterms:created xsi:type="dcterms:W3CDTF">2026-09-11T11:06:11Z</dcterms:created>
  <dcterms:modified xsi:type="dcterms:W3CDTF">2026-09-17T06:31:09Z</dcterms:modified>
</cp:coreProperties>
</file>